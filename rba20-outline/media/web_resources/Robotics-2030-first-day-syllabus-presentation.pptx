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6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5858"/>
    <a:srgbClr val="5897D0"/>
    <a:srgbClr val="FFADAD"/>
    <a:srgbClr val="F5B7EE"/>
    <a:srgbClr val="F5A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1" d="100"/>
          <a:sy n="91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9935B-4F48-48B8-86B1-C4B60B83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E3203-60CF-42DF-B341-DEAE51C09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92BA6-3FE3-461F-B0C0-D6C3E740C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C913F-E314-4B6B-9747-62AF1596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4F28C-F9DB-4298-8546-B2E6877B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22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FCA5-D731-453B-A936-8B78345B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FEA83-7D05-4ED1-8AAE-754B148D1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B0A70-DE06-4355-9FF4-F0ED36AE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73961-E2DD-4498-880F-F1D9208A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0B66-2104-4150-AF4C-3FF0F275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1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8ACA-5186-4722-89CA-4FD4A2C55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FFCE2-D324-42AF-B039-2D7A42638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B8CFB-DF11-4E72-8436-2ADC9546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89AE4-ED41-4888-BC21-32C733BD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9CD29-A5FF-4857-8F65-32B2FB1B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5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22A1-8D7F-4495-B472-F32073B0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3239F-D4F4-40BF-873A-223BFF934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5FC3C-8FD4-4E91-965D-B2B1E393B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0B50D-20E9-48F2-8C94-500B595F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D029E-EAA0-4F14-916C-A79FDB1F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0344E-478D-45B5-B90B-9EB2DA2B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57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25BE-AF54-4D8D-B51F-4D87E2981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B7CFF-2B6B-425B-AB6C-56C56D731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BF11D-C4E1-486C-BF54-EC405CB07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A68A6-73CF-4D25-9304-C3B9E9F5E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EEEFD-6E8E-4503-B5D1-58C3E60F8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2879E-4C46-47FF-836E-B3C7AAB1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24E21-8B3D-4B77-B868-019A8A6BE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13975-C2D8-49CA-8876-A7C6857C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1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BE63-2005-4894-8349-B21ABFAC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7F112-413F-4F6D-948C-1DF65D002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D47EA-255C-48F0-B8AF-54A9FA5C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45C89-65FE-4AA7-B508-004CE416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8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92F5F8-B93F-48D6-B5F1-8536BAC1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577FE-E96B-4928-A284-0817B263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3809-EEA7-4ADB-BE53-18617E58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E991-E455-4A17-A5FF-A4A2CD69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9C90C-92A2-48C7-854E-581A6A9D8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DC4B2-3B7A-460B-A780-A78DE5FD4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4CBF6-8722-485A-B221-2A6D12EF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02A1E-D327-4E97-B3C3-D9FB7B2C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3F99E-38F3-495E-A69D-6CEE7364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2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F65D-7EBD-495B-A43F-B33EF2957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5EC6E-BB12-45F0-B175-B5D1B9707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FDAA2-EAD4-48EB-9C92-ABB491D5B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B461-372F-49AC-A27F-21B87C2FC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F2607-929C-4786-B99E-DF27BC24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FE5D6-CF92-4419-AE79-C696289FD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95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5E18-F953-48FC-83F9-BFB39888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0B989-D38F-4CC2-9324-A17E3F48C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B7FC-88E2-429A-AA1A-CA98EFA9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69602-344A-434B-8F36-FC073DE3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CA2D3-F2C6-40A8-B22C-FA2FA33D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99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E6BE43-2F83-41D5-AEA0-D43F1CEE5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607C8E-DB9B-4B3F-9CAE-57A3E9258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4D80F-65AB-46E4-B1AC-39DF835D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9A45D-5E1D-4353-9BF5-5A166C6E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614CB-6886-4C24-81A1-D4B0168F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3C7A9D-50CB-4BC6-BE66-8D029B3B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A5C0C-C50E-48E0-9527-55533AC97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52E4A-5A4A-4421-81A4-44A4D8E01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A5148-66AA-4B3A-B8C1-154704D844C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A5FC8-B8CB-4DD5-BB14-E2C0C2F07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928C1-2FEF-410D-8AB3-B6DE6C0A6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61A5E-D490-4C8A-A48B-C2A1A1AC0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9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10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B04F-C0BD-4F00-ABD1-801184B57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5329"/>
            <a:ext cx="9144000" cy="2387600"/>
          </a:xfrm>
        </p:spPr>
        <p:txBody>
          <a:bodyPr/>
          <a:lstStyle/>
          <a:p>
            <a:r>
              <a:rPr lang="en-US" dirty="0">
                <a:latin typeface="Adobe Gothic Std B" panose="020B0800000000000000" pitchFamily="34" charset="-128"/>
                <a:ea typeface="Adobe Gothic Std B" panose="020B0800000000000000" pitchFamily="34" charset="-128"/>
                <a:cs typeface="Aharoni" panose="020B0604020202020204" pitchFamily="2" charset="-79"/>
              </a:rPr>
              <a:t>Robotics 30</a:t>
            </a:r>
          </a:p>
        </p:txBody>
      </p:sp>
    </p:spTree>
    <p:extLst>
      <p:ext uri="{BB962C8B-B14F-4D97-AF65-F5344CB8AC3E}">
        <p14:creationId xmlns:p14="http://schemas.microsoft.com/office/powerpoint/2010/main" val="2233463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B1F0-9464-4B40-9E46-C9EBE2EE1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3562"/>
            <a:ext cx="5341434" cy="585231"/>
          </a:xfrm>
        </p:spPr>
        <p:txBody>
          <a:bodyPr>
            <a:normAutofit/>
          </a:bodyPr>
          <a:lstStyle/>
          <a:p>
            <a:r>
              <a:rPr lang="en-US" sz="3200" dirty="0">
                <a:ea typeface="Adobe Gothic Std B" panose="020B0800000000000000" pitchFamily="34" charset="-128"/>
                <a:cs typeface="Dubai Light" panose="020B0303030403030204" pitchFamily="34" charset="-78"/>
              </a:rPr>
              <a:t>In this class, you’ll study: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FDFBDD5-E5F2-4746-BF77-80CA9C01C1FF}"/>
              </a:ext>
            </a:extLst>
          </p:cNvPr>
          <p:cNvSpPr txBox="1">
            <a:spLocks/>
          </p:cNvSpPr>
          <p:nvPr/>
        </p:nvSpPr>
        <p:spPr>
          <a:xfrm>
            <a:off x="279620" y="5590815"/>
            <a:ext cx="2589705" cy="1095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Design and Manufacturing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4F3279-CB09-4A99-BD98-4C59823D6425}"/>
              </a:ext>
            </a:extLst>
          </p:cNvPr>
          <p:cNvSpPr txBox="1">
            <a:spLocks/>
          </p:cNvSpPr>
          <p:nvPr/>
        </p:nvSpPr>
        <p:spPr>
          <a:xfrm>
            <a:off x="3495675" y="5580194"/>
            <a:ext cx="2124074" cy="1095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Circuits and Electronics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4BDB0D7-D376-4AC2-84EF-389ACCA3DBB8}"/>
              </a:ext>
            </a:extLst>
          </p:cNvPr>
          <p:cNvSpPr txBox="1">
            <a:spLocks/>
          </p:cNvSpPr>
          <p:nvPr/>
        </p:nvSpPr>
        <p:spPr>
          <a:xfrm>
            <a:off x="6736889" y="5580194"/>
            <a:ext cx="1911240" cy="1095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Coding and Logic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F46E200-A8E0-4998-B961-F01CA80E9ABC}"/>
              </a:ext>
            </a:extLst>
          </p:cNvPr>
          <p:cNvSpPr txBox="1">
            <a:spLocks/>
          </p:cNvSpPr>
          <p:nvPr/>
        </p:nvSpPr>
        <p:spPr>
          <a:xfrm>
            <a:off x="10001140" y="5590815"/>
            <a:ext cx="1911240" cy="1095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Projects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7DD075C-85EC-4693-AEE2-106C41D954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033682"/>
              </p:ext>
            </p:extLst>
          </p:nvPr>
        </p:nvGraphicFramePr>
        <p:xfrm>
          <a:off x="0" y="955482"/>
          <a:ext cx="3078821" cy="453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31680" imgH="5346000" progId="">
                  <p:embed/>
                </p:oleObj>
              </mc:Choice>
              <mc:Fallback>
                <p:oleObj r:id="rId2" imgW="3631680" imgH="5346000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7DD075C-85EC-4693-AEE2-106C41D954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955482"/>
                        <a:ext cx="3078821" cy="4532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B2596009-F37A-4CBC-9AE3-926D6EB17B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43902"/>
              </p:ext>
            </p:extLst>
          </p:nvPr>
        </p:nvGraphicFramePr>
        <p:xfrm>
          <a:off x="6153099" y="955482"/>
          <a:ext cx="3078821" cy="453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631680" imgH="5346000" progId="">
                  <p:embed/>
                </p:oleObj>
              </mc:Choice>
              <mc:Fallback>
                <p:oleObj r:id="rId4" imgW="3631680" imgH="5346000" progId="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B2596009-F37A-4CBC-9AE3-926D6EB17B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53099" y="955482"/>
                        <a:ext cx="3078821" cy="4532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C410D21A-50C9-4542-BEE9-9C84F4013F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513786"/>
              </p:ext>
            </p:extLst>
          </p:nvPr>
        </p:nvGraphicFramePr>
        <p:xfrm>
          <a:off x="3078821" y="955482"/>
          <a:ext cx="3074278" cy="4525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631680" imgH="5346000" progId="">
                  <p:embed/>
                </p:oleObj>
              </mc:Choice>
              <mc:Fallback>
                <p:oleObj r:id="rId6" imgW="3631680" imgH="5346000" progId="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C410D21A-50C9-4542-BEE9-9C84F4013F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78821" y="955482"/>
                        <a:ext cx="3074278" cy="4525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close-up of a gear&#10;&#10;AI-generated content may be incorrect.">
            <a:extLst>
              <a:ext uri="{FF2B5EF4-FFF2-40B4-BE49-F238E27FC236}">
                <a16:creationId xmlns:a16="http://schemas.microsoft.com/office/drawing/2014/main" id="{7EA4341A-EA56-03CD-AC1F-29BB8D5CD7F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8555" y="955479"/>
            <a:ext cx="3078822" cy="2324052"/>
          </a:xfrm>
          <a:prstGeom prst="rect">
            <a:avLst/>
          </a:prstGeom>
        </p:spPr>
      </p:pic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C946303-B706-4E3E-AB32-A055E3155C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719144"/>
              </p:ext>
            </p:extLst>
          </p:nvPr>
        </p:nvGraphicFramePr>
        <p:xfrm>
          <a:off x="9116342" y="955479"/>
          <a:ext cx="3074279" cy="4525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631680" imgH="5346000" progId="">
                  <p:embed/>
                </p:oleObj>
              </mc:Choice>
              <mc:Fallback>
                <p:oleObj r:id="rId9" imgW="3631680" imgH="5346000" progId="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0C946303-B706-4E3E-AB32-A055E3155C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16342" y="955479"/>
                        <a:ext cx="3074279" cy="45254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BB4358D0-CB9B-67A8-38C3-F4FF5AEE2A1F}"/>
              </a:ext>
            </a:extLst>
          </p:cNvPr>
          <p:cNvSpPr txBox="1">
            <a:spLocks/>
          </p:cNvSpPr>
          <p:nvPr/>
        </p:nvSpPr>
        <p:spPr>
          <a:xfrm>
            <a:off x="6344182" y="217470"/>
            <a:ext cx="2687567" cy="1095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Mechanisms</a:t>
            </a:r>
          </a:p>
        </p:txBody>
      </p:sp>
    </p:spTree>
    <p:extLst>
      <p:ext uri="{BB962C8B-B14F-4D97-AF65-F5344CB8AC3E}">
        <p14:creationId xmlns:p14="http://schemas.microsoft.com/office/powerpoint/2010/main" val="1174437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A7D9-D549-480C-AC47-C3BE89908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154" y="216665"/>
            <a:ext cx="10515600" cy="1325563"/>
          </a:xfrm>
        </p:spPr>
        <p:txBody>
          <a:bodyPr/>
          <a:lstStyle/>
          <a:p>
            <a:r>
              <a:rPr lang="en-US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Safety</a:t>
            </a:r>
            <a:endParaRPr lang="en-US" dirty="0"/>
          </a:p>
        </p:txBody>
      </p:sp>
      <p:pic>
        <p:nvPicPr>
          <p:cNvPr id="2050" name="Picture 2" descr="Image result for soldering iron hakko">
            <a:extLst>
              <a:ext uri="{FF2B5EF4-FFF2-40B4-BE49-F238E27FC236}">
                <a16:creationId xmlns:a16="http://schemas.microsoft.com/office/drawing/2014/main" id="{518DEA0C-20C6-4B83-A19A-B68506C08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3984" y="3259071"/>
            <a:ext cx="3512634" cy="269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leather work gloves">
            <a:extLst>
              <a:ext uri="{FF2B5EF4-FFF2-40B4-BE49-F238E27FC236}">
                <a16:creationId xmlns:a16="http://schemas.microsoft.com/office/drawing/2014/main" id="{7A257D66-8699-46FF-876C-5A63CEA70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8823" y="3227704"/>
            <a:ext cx="2753413" cy="275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safety glasses">
            <a:extLst>
              <a:ext uri="{FF2B5EF4-FFF2-40B4-BE49-F238E27FC236}">
                <a16:creationId xmlns:a16="http://schemas.microsoft.com/office/drawing/2014/main" id="{24112322-9BAC-454D-9C85-C50D75559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90898" y="710794"/>
            <a:ext cx="3530434" cy="183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age result for power source shock">
            <a:extLst>
              <a:ext uri="{FF2B5EF4-FFF2-40B4-BE49-F238E27FC236}">
                <a16:creationId xmlns:a16="http://schemas.microsoft.com/office/drawing/2014/main" id="{30DD9E80-87E6-4942-A9B3-2D9D17139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28380" y="1521"/>
            <a:ext cx="325755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 result for wire stippers">
            <a:extLst>
              <a:ext uri="{FF2B5EF4-FFF2-40B4-BE49-F238E27FC236}">
                <a16:creationId xmlns:a16="http://schemas.microsoft.com/office/drawing/2014/main" id="{AD193F5A-F482-462C-8F8A-008832FBC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16373" y="3227704"/>
            <a:ext cx="325755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689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CDC87E-50A6-5060-C80A-3AADF81E9C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9237" y="748938"/>
            <a:ext cx="4160540" cy="28694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1EE36-F1E7-4F7B-8D55-A6834215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94" y="339957"/>
            <a:ext cx="10515600" cy="1325563"/>
          </a:xfrm>
        </p:spPr>
        <p:txBody>
          <a:bodyPr/>
          <a:lstStyle/>
          <a:p>
            <a:r>
              <a:rPr lang="en-US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Equipment |</a:t>
            </a:r>
            <a:r>
              <a:rPr lang="en-US"/>
              <a:t> Care and Responsibility</a:t>
            </a:r>
            <a:endParaRPr lang="en-US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04B5-0911-4EDB-B16C-D6FE76E46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894" y="1825625"/>
            <a:ext cx="6249798" cy="4351338"/>
          </a:xfrm>
        </p:spPr>
        <p:txBody>
          <a:bodyPr/>
          <a:lstStyle/>
          <a:p>
            <a:r>
              <a:rPr lang="en-US"/>
              <a:t>In this class, you’re trusted with thousands of dollars of equipment’s use</a:t>
            </a:r>
          </a:p>
          <a:p>
            <a:pPr lvl="1"/>
            <a:r>
              <a:rPr lang="en-US"/>
              <a:t>You are trusted to use this equipment in a manner that is safe for:</a:t>
            </a:r>
          </a:p>
          <a:p>
            <a:pPr lvl="2"/>
            <a:r>
              <a:rPr lang="en-US"/>
              <a:t>You</a:t>
            </a:r>
          </a:p>
          <a:p>
            <a:pPr lvl="2"/>
            <a:r>
              <a:rPr lang="en-US"/>
              <a:t>Your classmates</a:t>
            </a:r>
          </a:p>
          <a:p>
            <a:pPr lvl="2"/>
            <a:r>
              <a:rPr lang="en-US"/>
              <a:t>The Equipment</a:t>
            </a:r>
            <a:br>
              <a:rPr lang="en-US"/>
            </a:br>
            <a:endParaRPr lang="en-US"/>
          </a:p>
          <a:p>
            <a:r>
              <a:rPr lang="en-US" i="1"/>
              <a:t>Please treat any borrowed school equipment with care so that others may use it after you!</a:t>
            </a:r>
            <a:endParaRPr lang="en-US" i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AF8848-1107-E348-D99C-7D36ED7B2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9308" y="3509554"/>
            <a:ext cx="3139439" cy="313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029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EE36-F1E7-4F7B-8D55-A6834215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94" y="339957"/>
            <a:ext cx="10515600" cy="1325563"/>
          </a:xfrm>
        </p:spPr>
        <p:txBody>
          <a:bodyPr/>
          <a:lstStyle/>
          <a:p>
            <a:r>
              <a:rPr lang="en-US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RBA20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04B5-0911-4EDB-B16C-D6FE76E46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215" y="5437425"/>
            <a:ext cx="3450126" cy="5575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i="1" dirty="0" err="1"/>
              <a:t>Micro:bit</a:t>
            </a:r>
            <a:r>
              <a:rPr lang="en-US" i="1" dirty="0"/>
              <a:t> Sensor Car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94398C-A6C6-C840-930F-3635543C2F99}"/>
              </a:ext>
            </a:extLst>
          </p:cNvPr>
          <p:cNvSpPr txBox="1">
            <a:spLocks/>
          </p:cNvSpPr>
          <p:nvPr/>
        </p:nvSpPr>
        <p:spPr>
          <a:xfrm>
            <a:off x="1102467" y="5437425"/>
            <a:ext cx="2049122" cy="678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/>
              <a:t>Marble Maze</a:t>
            </a:r>
          </a:p>
        </p:txBody>
      </p:sp>
      <p:pic>
        <p:nvPicPr>
          <p:cNvPr id="8" name="Picture 7" descr="A small robot with wheels and wires&#10;&#10;AI-generated content may be incorrect.">
            <a:extLst>
              <a:ext uri="{FF2B5EF4-FFF2-40B4-BE49-F238E27FC236}">
                <a16:creationId xmlns:a16="http://schemas.microsoft.com/office/drawing/2014/main" id="{40FC1CEB-1ED8-DED5-2A37-0459BEF532F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80207" y="2426722"/>
            <a:ext cx="3012142" cy="2708032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EED84074-F00F-EE02-67CA-0962A98A85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857293" y="2872148"/>
            <a:ext cx="2080338" cy="181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73D5ADC-BE1D-E295-3939-05DCB8F45D5D}"/>
              </a:ext>
            </a:extLst>
          </p:cNvPr>
          <p:cNvSpPr txBox="1">
            <a:spLocks/>
          </p:cNvSpPr>
          <p:nvPr/>
        </p:nvSpPr>
        <p:spPr>
          <a:xfrm>
            <a:off x="8172399" y="5134754"/>
            <a:ext cx="3450126" cy="86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/>
              <a:t>Creative Circuit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8839D-7800-10DA-005D-4407BFD9D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62" y="2464197"/>
            <a:ext cx="3929732" cy="26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8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EE04-588B-0C37-51DE-2DAC7AAD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393B-0AC5-22EE-C745-2C483592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94" y="339957"/>
            <a:ext cx="10515600" cy="1325563"/>
          </a:xfrm>
        </p:spPr>
        <p:txBody>
          <a:bodyPr/>
          <a:lstStyle/>
          <a:p>
            <a:r>
              <a:rPr lang="en-US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RBA30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D428F-C94F-8EBC-BC40-E59689C42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9238" y="6126041"/>
            <a:ext cx="2900577" cy="475614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i="1" dirty="0"/>
              <a:t>Student-directed individual/pair project   (if time allows)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DE3835-3ADB-7546-29F4-D42FD1A3DD20}"/>
              </a:ext>
            </a:extLst>
          </p:cNvPr>
          <p:cNvSpPr txBox="1">
            <a:spLocks/>
          </p:cNvSpPr>
          <p:nvPr/>
        </p:nvSpPr>
        <p:spPr>
          <a:xfrm>
            <a:off x="161185" y="4845498"/>
            <a:ext cx="3166703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Teleoperated Robot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/>
              <a:t>(Task Unknown…)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408ED4F4-112B-CFB2-6EB0-08929092E1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424397" y="4308862"/>
            <a:ext cx="2080338" cy="181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University of Nevada, Reno mini-robot vehicle wins MicroMouse event Saturday">
            <a:extLst>
              <a:ext uri="{FF2B5EF4-FFF2-40B4-BE49-F238E27FC236}">
                <a16:creationId xmlns:a16="http://schemas.microsoft.com/office/drawing/2014/main" id="{CF4C5315-B0BC-851F-E375-F48E416B2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16412" y="1431723"/>
            <a:ext cx="3131187" cy="207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laohu Flysky FS-i6X 6-10 Channels (Default 6CH) 2.4GHz RC Transmitter and  Receiver FS-iA6B Radio Control System for FPV Multirotor Drone Fixed Wing  ...">
            <a:extLst>
              <a:ext uri="{FF2B5EF4-FFF2-40B4-BE49-F238E27FC236}">
                <a16:creationId xmlns:a16="http://schemas.microsoft.com/office/drawing/2014/main" id="{1DCBFEA3-E0E9-018C-3CAF-0ABD23E25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1677" y="2283801"/>
            <a:ext cx="2290397" cy="229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AB8569-C829-C382-7552-19DD7665F437}"/>
              </a:ext>
            </a:extLst>
          </p:cNvPr>
          <p:cNvSpPr txBox="1">
            <a:spLocks/>
          </p:cNvSpPr>
          <p:nvPr/>
        </p:nvSpPr>
        <p:spPr>
          <a:xfrm>
            <a:off x="3580896" y="3609242"/>
            <a:ext cx="3166703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Autonomous Maze Solver</a:t>
            </a:r>
            <a:endParaRPr lang="en-US" sz="1800" i="1" dirty="0"/>
          </a:p>
        </p:txBody>
      </p:sp>
      <p:pic>
        <p:nvPicPr>
          <p:cNvPr id="1028" name="Picture 4" descr="A Simple 3D Printed Scotch Yoke Mechanism. - Instructables">
            <a:extLst>
              <a:ext uri="{FF2B5EF4-FFF2-40B4-BE49-F238E27FC236}">
                <a16:creationId xmlns:a16="http://schemas.microsoft.com/office/drawing/2014/main" id="{A0228911-75BE-F095-7F84-3254F91D6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8086" y="835808"/>
            <a:ext cx="2768152" cy="207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54B986-9BFF-558D-9997-0FFC5D706FA1}"/>
              </a:ext>
            </a:extLst>
          </p:cNvPr>
          <p:cNvSpPr txBox="1">
            <a:spLocks/>
          </p:cNvSpPr>
          <p:nvPr/>
        </p:nvSpPr>
        <p:spPr>
          <a:xfrm>
            <a:off x="7628810" y="3015771"/>
            <a:ext cx="3166703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Mechanisms Research</a:t>
            </a: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319303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age result for here there be dragons">
            <a:extLst>
              <a:ext uri="{FF2B5EF4-FFF2-40B4-BE49-F238E27FC236}">
                <a16:creationId xmlns:a16="http://schemas.microsoft.com/office/drawing/2014/main" id="{122C8AA0-8637-4F39-81BA-68087CF3C4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62BE82-D00D-42C1-BF16-93AA37870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6D92C2D-1D3D-4974-918C-06579FB35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0141" y="-2"/>
            <a:ext cx="5441859" cy="5654940"/>
          </a:xfrm>
          <a:custGeom>
            <a:avLst/>
            <a:gdLst>
              <a:gd name="connsiteX0" fmla="*/ 0 w 5441859"/>
              <a:gd name="connsiteY0" fmla="*/ 0 h 5654940"/>
              <a:gd name="connsiteX1" fmla="*/ 4400492 w 5441859"/>
              <a:gd name="connsiteY1" fmla="*/ 0 h 5654940"/>
              <a:gd name="connsiteX2" fmla="*/ 4484767 w 5441859"/>
              <a:gd name="connsiteY2" fmla="*/ 76595 h 5654940"/>
              <a:gd name="connsiteX3" fmla="*/ 5441859 w 5441859"/>
              <a:gd name="connsiteY3" fmla="*/ 2387221 h 5654940"/>
              <a:gd name="connsiteX4" fmla="*/ 2174140 w 5441859"/>
              <a:gd name="connsiteY4" fmla="*/ 5654940 h 5654940"/>
              <a:gd name="connsiteX5" fmla="*/ 156693 w 5441859"/>
              <a:gd name="connsiteY5" fmla="*/ 4957981 h 5654940"/>
              <a:gd name="connsiteX6" fmla="*/ 0 w 5441859"/>
              <a:gd name="connsiteY6" fmla="*/ 4820612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0" y="0"/>
                </a:moveTo>
                <a:lnTo>
                  <a:pt x="4400492" y="0"/>
                </a:lnTo>
                <a:lnTo>
                  <a:pt x="4484767" y="76595"/>
                </a:lnTo>
                <a:cubicBezTo>
                  <a:pt x="5076108" y="667936"/>
                  <a:pt x="5441859" y="1484866"/>
                  <a:pt x="5441859" y="2387221"/>
                </a:cubicBezTo>
                <a:cubicBezTo>
                  <a:pt x="5441859" y="4191932"/>
                  <a:pt x="3978851" y="5654940"/>
                  <a:pt x="2174140" y="5654940"/>
                </a:cubicBezTo>
                <a:cubicBezTo>
                  <a:pt x="1412778" y="5654940"/>
                  <a:pt x="712231" y="5394557"/>
                  <a:pt x="156693" y="4957981"/>
                </a:cubicBezTo>
                <a:lnTo>
                  <a:pt x="0" y="4820612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912C7-96B8-44BA-A5FD-E00FBE085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6779" y="1774372"/>
            <a:ext cx="4949187" cy="165462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/>
              <a:t>As this is a pretty new course, this is in some ways </a:t>
            </a:r>
            <a:r>
              <a:rPr lang="en-US" sz="1800" b="1" dirty="0"/>
              <a:t>uncharted territory.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I’ll be doing my best to make this an amazing class, but I’ll be relying on each of you as well!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8DC018F-ECA0-4221-A1EA-4337FEB4B105}"/>
              </a:ext>
            </a:extLst>
          </p:cNvPr>
          <p:cNvSpPr txBox="1">
            <a:spLocks/>
          </p:cNvSpPr>
          <p:nvPr/>
        </p:nvSpPr>
        <p:spPr>
          <a:xfrm>
            <a:off x="7881830" y="43134"/>
            <a:ext cx="4204137" cy="1159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Here there be Dragons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883EB08-84D6-4A73-8857-65AD38E5FC3E}"/>
              </a:ext>
            </a:extLst>
          </p:cNvPr>
          <p:cNvSpPr txBox="1">
            <a:spLocks/>
          </p:cNvSpPr>
          <p:nvPr/>
        </p:nvSpPr>
        <p:spPr>
          <a:xfrm>
            <a:off x="7960921" y="3192585"/>
            <a:ext cx="4338524" cy="16546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Be present and on-time</a:t>
            </a:r>
          </a:p>
          <a:p>
            <a:r>
              <a:rPr lang="en-US" sz="2000" dirty="0"/>
              <a:t>Come with an open and interested mind</a:t>
            </a:r>
          </a:p>
          <a:p>
            <a:r>
              <a:rPr lang="en-US" sz="2000" dirty="0"/>
              <a:t>Have patience, be resilient</a:t>
            </a:r>
          </a:p>
          <a:p>
            <a:r>
              <a:rPr lang="en-US" sz="2000" dirty="0"/>
              <a:t>Be willing to help your peers</a:t>
            </a:r>
          </a:p>
        </p:txBody>
      </p:sp>
    </p:spTree>
    <p:extLst>
      <p:ext uri="{BB962C8B-B14F-4D97-AF65-F5344CB8AC3E}">
        <p14:creationId xmlns:p14="http://schemas.microsoft.com/office/powerpoint/2010/main" val="325549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F7E2A-597C-4A0D-B512-430A4A8D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Grades...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6C44F-317F-4758-BF6B-C4F1174BE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033"/>
            <a:ext cx="10515600" cy="18539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course is focused on </a:t>
            </a:r>
            <a:r>
              <a:rPr lang="en-US" b="1" dirty="0"/>
              <a:t>skill development</a:t>
            </a:r>
            <a:r>
              <a:rPr lang="en-US" b="1" i="1" dirty="0"/>
              <a:t> </a:t>
            </a:r>
            <a:r>
              <a:rPr lang="en-US" dirty="0"/>
              <a:t>and </a:t>
            </a:r>
            <a:r>
              <a:rPr lang="en-US" b="1" dirty="0"/>
              <a:t>design thinking. 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6AF453-F50E-4E07-BDCE-C04A40C2B375}"/>
              </a:ext>
            </a:extLst>
          </p:cNvPr>
          <p:cNvSpPr/>
          <p:nvPr/>
        </p:nvSpPr>
        <p:spPr>
          <a:xfrm>
            <a:off x="0" y="3412528"/>
            <a:ext cx="12192000" cy="34454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CFB25-386E-43B8-895A-39DF57444AF6}"/>
              </a:ext>
            </a:extLst>
          </p:cNvPr>
          <p:cNvSpPr txBox="1"/>
          <p:nvPr/>
        </p:nvSpPr>
        <p:spPr>
          <a:xfrm>
            <a:off x="6698567" y="4670727"/>
            <a:ext cx="58216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RBA30</a:t>
            </a:r>
          </a:p>
          <a:p>
            <a:r>
              <a:rPr lang="en-US" sz="2000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Assignments 		→ 30%      </a:t>
            </a:r>
            <a:br>
              <a:rPr lang="en-US" sz="2000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sz="2000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Major Projects (2-3)	→ 70%</a:t>
            </a:r>
          </a:p>
          <a:p>
            <a:r>
              <a:rPr lang="en-US" sz="2000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	</a:t>
            </a:r>
            <a:r>
              <a:rPr lang="en-US" sz="1600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- graded primarily by self-assessment</a:t>
            </a:r>
            <a:endParaRPr lang="en-US" sz="2000" dirty="0">
              <a:solidFill>
                <a:srgbClr val="FF0000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A4714-0A5D-48ED-9C2E-2C4B9E351803}"/>
              </a:ext>
            </a:extLst>
          </p:cNvPr>
          <p:cNvSpPr/>
          <p:nvPr/>
        </p:nvSpPr>
        <p:spPr>
          <a:xfrm>
            <a:off x="838200" y="2204597"/>
            <a:ext cx="107569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 hope your motivation in the class has more to do with</a:t>
            </a:r>
            <a:r>
              <a:rPr lang="en-US" sz="2800" b="1" dirty="0"/>
              <a:t> personal growth </a:t>
            </a:r>
            <a:r>
              <a:rPr lang="en-US" sz="2800" dirty="0"/>
              <a:t>than the grade you get – but here is the breakdown: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39D5C-B61A-3C62-DD48-76C32B7F9E38}"/>
              </a:ext>
            </a:extLst>
          </p:cNvPr>
          <p:cNvSpPr txBox="1"/>
          <p:nvPr/>
        </p:nvSpPr>
        <p:spPr>
          <a:xfrm>
            <a:off x="1188721" y="4748392"/>
            <a:ext cx="58216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RBA20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Assignments 	           → 55%      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Major Projects (2-3)   → 45%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5144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B6F8-70E9-4B27-B6C7-11C4A911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Lab / Workshop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DAEE9-3DF6-4843-8CAC-FD8D9C23C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7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 don’t have many rules, but these are non-negotiable if you are to be in my class: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95652-C20B-45E5-940A-3F340E63783F}"/>
              </a:ext>
            </a:extLst>
          </p:cNvPr>
          <p:cNvSpPr txBox="1"/>
          <p:nvPr/>
        </p:nvSpPr>
        <p:spPr>
          <a:xfrm>
            <a:off x="1143000" y="3149600"/>
            <a:ext cx="10426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Computer Usage During Class time.  </a:t>
            </a:r>
            <a:r>
              <a:rPr lang="en-US" dirty="0"/>
              <a:t>No social media, games, sites unrelated to current class work.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No Food by Computers.   </a:t>
            </a:r>
            <a:r>
              <a:rPr lang="en-US" dirty="0"/>
              <a:t>Plan ahead or be patient. Bottled water only.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Don’t mess with the cords. </a:t>
            </a:r>
            <a:r>
              <a:rPr lang="en-US" dirty="0"/>
              <a:t>Leave computer cables as they are. If there is an issue, call me over.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Keep your area clean(</a:t>
            </a:r>
            <a:r>
              <a:rPr lang="en-US" b="1" dirty="0" err="1"/>
              <a:t>er</a:t>
            </a:r>
            <a:r>
              <a:rPr lang="en-US" b="1" dirty="0"/>
              <a:t>). </a:t>
            </a:r>
            <a:r>
              <a:rPr lang="en-US" dirty="0"/>
              <a:t>Please help me out by taking care of recycling and garbage in your area.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Equipment Organization. </a:t>
            </a:r>
            <a:r>
              <a:rPr lang="en-US" dirty="0"/>
              <a:t> Please do your part to help keep all our equipment/components/tools </a:t>
            </a:r>
            <a:br>
              <a:rPr lang="en-US" dirty="0"/>
            </a:br>
            <a:r>
              <a:rPr lang="en-US" dirty="0"/>
              <a:t>			 organized. </a:t>
            </a:r>
            <a:br>
              <a:rPr lang="en-US" dirty="0"/>
            </a:b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If you take it out, please ensure </a:t>
            </a:r>
            <a:r>
              <a:rPr lang="en-US" i="1" u="sng" dirty="0">
                <a:solidFill>
                  <a:srgbClr val="FF0000"/>
                </a:solidFill>
              </a:rPr>
              <a:t>you</a:t>
            </a:r>
            <a:r>
              <a:rPr lang="en-US" i="1" dirty="0">
                <a:solidFill>
                  <a:srgbClr val="FF0000"/>
                </a:solidFill>
              </a:rPr>
              <a:t> put it back!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B260CA2-3C8F-4579-97BE-27E4153B9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0493" y="546100"/>
            <a:ext cx="743745" cy="74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6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0DB64-A365-4840-809F-2B807D605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6400"/>
            <a:ext cx="10515600" cy="18923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Start.</a:t>
            </a:r>
            <a:endParaRPr lang="en-US" sz="80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08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3358</TotalTime>
  <Words>404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Adobe Gothic Std B</vt:lpstr>
      <vt:lpstr>Arial</vt:lpstr>
      <vt:lpstr>Berlin Sans FB</vt:lpstr>
      <vt:lpstr>Calibri</vt:lpstr>
      <vt:lpstr>Calibri Light</vt:lpstr>
      <vt:lpstr>Office Theme</vt:lpstr>
      <vt:lpstr>Robotics 30</vt:lpstr>
      <vt:lpstr>In this class, you’ll study:</vt:lpstr>
      <vt:lpstr>Safety</vt:lpstr>
      <vt:lpstr>Equipment | Care and Responsibility</vt:lpstr>
      <vt:lpstr>RBA20 Projects</vt:lpstr>
      <vt:lpstr>RBA30 Projects</vt:lpstr>
      <vt:lpstr>PowerPoint Presentation</vt:lpstr>
      <vt:lpstr>Grades...</vt:lpstr>
      <vt:lpstr>Lab / Workshop Rules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Robotics 10 / 20 / 30</dc:title>
  <dc:creator>Scott, Stefan</dc:creator>
  <cp:lastModifiedBy>Scott, Stefan</cp:lastModifiedBy>
  <cp:revision>16</cp:revision>
  <dcterms:created xsi:type="dcterms:W3CDTF">2019-08-14T19:00:41Z</dcterms:created>
  <dcterms:modified xsi:type="dcterms:W3CDTF">2026-07-06T03:37:45Z</dcterms:modified>
</cp:coreProperties>
</file>